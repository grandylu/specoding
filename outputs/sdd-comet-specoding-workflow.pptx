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7ac7354084ef1" /><Relationship Type="http://schemas.openxmlformats.org/officeDocument/2006/relationships/extended-properties" Target="/docProps/app.xml" Id="R18fc3761e2544d7b" /><Relationship Type="http://schemas.openxmlformats.org/officeDocument/2006/relationships/officeDocument" Target="/ppt/presentation.xml" Id="R19bde6a9a30143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753f7858e24c0a"/>
  </p:sldMasterIdLst>
  <p:notesMasterIdLst>
    <p:notesMasterId xmlns:r="http://schemas.openxmlformats.org/officeDocument/2006/relationships" r:id="Rdca1c49f1bef4f48"/>
  </p:notesMasterIdLst>
  <p:sldIdLst>
    <p:sldId xmlns:r="http://schemas.openxmlformats.org/officeDocument/2006/relationships" id="256" r:id="R0efb2e24053d4492"/>
    <p:sldId xmlns:r="http://schemas.openxmlformats.org/officeDocument/2006/relationships" id="257" r:id="R25caf3453d094bae"/>
    <p:sldId xmlns:r="http://schemas.openxmlformats.org/officeDocument/2006/relationships" id="258" r:id="R19c19b0ebc0045a2"/>
    <p:sldId xmlns:r="http://schemas.openxmlformats.org/officeDocument/2006/relationships" id="259" r:id="R160c0f1460cc45b4"/>
    <p:sldId xmlns:r="http://schemas.openxmlformats.org/officeDocument/2006/relationships" id="260" r:id="Rd7a48b7553e64d83"/>
    <p:sldId xmlns:r="http://schemas.openxmlformats.org/officeDocument/2006/relationships" id="261" r:id="R528b1b2d312e4de4"/>
    <p:sldId xmlns:r="http://schemas.openxmlformats.org/officeDocument/2006/relationships" id="262" r:id="R04364574feed458c"/>
    <p:sldId xmlns:r="http://schemas.openxmlformats.org/officeDocument/2006/relationships" id="263" r:id="R93ee627059f7478b"/>
    <p:sldId xmlns:r="http://schemas.openxmlformats.org/officeDocument/2006/relationships" id="264" r:id="R01bbd797ff584c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c994d1149646a2" /><Relationship Type="http://schemas.openxmlformats.org/officeDocument/2006/relationships/slideMaster" Target="/ppt/slideMasters/slideMaster1.xml" Id="Rce753f7858e24c0a" /><Relationship Type="http://schemas.openxmlformats.org/officeDocument/2006/relationships/notesMaster" Target="/ppt/notesMasters/notesMaster1.xml" Id="Rdca1c49f1bef4f48" /><Relationship Type="http://schemas.openxmlformats.org/officeDocument/2006/relationships/presProps" Target="/ppt/presProps.xml" Id="R7e80c4b683174c6c" /><Relationship Type="http://schemas.openxmlformats.org/officeDocument/2006/relationships/tableStyles" Target="/ppt/tableStyles.xml" Id="R82196445c862447d" /><Relationship Type="http://schemas.openxmlformats.org/officeDocument/2006/relationships/slide" Target="/ppt/slides/slide1.xml" Id="R0efb2e24053d4492" /><Relationship Type="http://schemas.openxmlformats.org/officeDocument/2006/relationships/slide" Target="/ppt/slides/slide2.xml" Id="R25caf3453d094bae" /><Relationship Type="http://schemas.openxmlformats.org/officeDocument/2006/relationships/slide" Target="/ppt/slides/slide3.xml" Id="R19c19b0ebc0045a2" /><Relationship Type="http://schemas.openxmlformats.org/officeDocument/2006/relationships/slide" Target="/ppt/slides/slide4.xml" Id="R160c0f1460cc45b4" /><Relationship Type="http://schemas.openxmlformats.org/officeDocument/2006/relationships/slide" Target="/ppt/slides/slide5.xml" Id="Rd7a48b7553e64d83" /><Relationship Type="http://schemas.openxmlformats.org/officeDocument/2006/relationships/slide" Target="/ppt/slides/slide6.xml" Id="R528b1b2d312e4de4" /><Relationship Type="http://schemas.openxmlformats.org/officeDocument/2006/relationships/slide" Target="/ppt/slides/slide7.xml" Id="R04364574feed458c" /><Relationship Type="http://schemas.openxmlformats.org/officeDocument/2006/relationships/slide" Target="/ppt/slides/slide8.xml" Id="R93ee627059f7478b" /><Relationship Type="http://schemas.openxmlformats.org/officeDocument/2006/relationships/slide" Target="/ppt/slides/slide9.xml" Id="R01bbd797ff584c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cc6b77bf44f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782df1a854275" /><Relationship Type="http://schemas.openxmlformats.org/officeDocument/2006/relationships/notesMaster" Target="/ppt/notesMasters/notesMaster1.xml" Id="Rcab262d2c66e46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6e9706e06409d" /><Relationship Type="http://schemas.openxmlformats.org/officeDocument/2006/relationships/notesMaster" Target="/ppt/notesMasters/notesMaster1.xml" Id="R12212f59b28b44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b4f0c1bc1243d8" /><Relationship Type="http://schemas.openxmlformats.org/officeDocument/2006/relationships/notesMaster" Target="/ppt/notesMasters/notesMaster1.xml" Id="Re6e1f06d0dd941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0a83ca1bf147a5" /><Relationship Type="http://schemas.openxmlformats.org/officeDocument/2006/relationships/notesMaster" Target="/ppt/notesMasters/notesMaster1.xml" Id="R824dde57a9b14a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e2c457cdf84be9" /><Relationship Type="http://schemas.openxmlformats.org/officeDocument/2006/relationships/notesMaster" Target="/ppt/notesMasters/notesMaster1.xml" Id="Rc2ba8167984d41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6eec24c2f94ff0" /><Relationship Type="http://schemas.openxmlformats.org/officeDocument/2006/relationships/notesMaster" Target="/ppt/notesMasters/notesMaster1.xml" Id="R5bb4ed6cf7f248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a8e7b66f2f4b31" /><Relationship Type="http://schemas.openxmlformats.org/officeDocument/2006/relationships/notesMaster" Target="/ppt/notesMasters/notesMaster1.xml" Id="Rd2a178c3be5c45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08ed623d9f464a" /><Relationship Type="http://schemas.openxmlformats.org/officeDocument/2006/relationships/notesMaster" Target="/ppt/notesMasters/notesMaster1.xml" Id="R39fe53d2f9204a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89883f8cb34478" /><Relationship Type="http://schemas.openxmlformats.org/officeDocument/2006/relationships/notesMaster" Target="/ppt/notesMasters/notesMaster1.xml" Id="R9d192215cc764b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fc44b337e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8febc0b9a4407c" /><Relationship Type="http://schemas.openxmlformats.org/officeDocument/2006/relationships/slideLayout" Target="/ppt/slideLayouts/slideLayout1.xml" Id="Rb7386e5a65e04d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386e5a65e0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e78265a914653" /><Relationship Type="http://schemas.openxmlformats.org/officeDocument/2006/relationships/notesSlide" Target="/ppt/notesSlides/notesSlide1.xml" Id="Rc0e9d2120efc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7da702cc94385" /><Relationship Type="http://schemas.openxmlformats.org/officeDocument/2006/relationships/notesSlide" Target="/ppt/notesSlides/notesSlide2.xml" Id="Re1cb33da2e7744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a235c0218494a" /><Relationship Type="http://schemas.openxmlformats.org/officeDocument/2006/relationships/notesSlide" Target="/ppt/notesSlides/notesSlide3.xml" Id="R5c2701b714744e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b8fc986d6445e" /><Relationship Type="http://schemas.openxmlformats.org/officeDocument/2006/relationships/notesSlide" Target="/ppt/notesSlides/notesSlide4.xml" Id="Ra070b22d951c48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52ddb3c6145c9" /><Relationship Type="http://schemas.openxmlformats.org/officeDocument/2006/relationships/notesSlide" Target="/ppt/notesSlides/notesSlide5.xml" Id="Rc33d1b8c9ee64b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9d407882e4881" /><Relationship Type="http://schemas.openxmlformats.org/officeDocument/2006/relationships/notesSlide" Target="/ppt/notesSlides/notesSlide6.xml" Id="Rd934e29ec6bf40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8185fb205411f" /><Relationship Type="http://schemas.openxmlformats.org/officeDocument/2006/relationships/notesSlide" Target="/ppt/notesSlides/notesSlide7.xml" Id="Rec195e5860d846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76c7b79304760" /><Relationship Type="http://schemas.openxmlformats.org/officeDocument/2006/relationships/notesSlide" Target="/ppt/notesSlides/notesSlide8.xml" Id="R279d856f1bad4c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bdc7d1cb84c37" /><Relationship Type="http://schemas.openxmlformats.org/officeDocument/2006/relationships/notesSlide" Target="/ppt/notesSlides/notesSlide9.xml" Id="Ra37a126d63dd48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A954C-CE27-4FAC-8F5D-4F8D777B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BB497-0D6D-4D0E-A50C-21355FF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SDD 相比 Vibe Coding 的优势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4D582-C02F-4F00-A5AF-401E180D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目标不是“多写流程”，而是把 AI 产出推向可上生产的工程标准。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1403-4738-4BCC-92EF-FD533F1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8C534-3BFA-43D0-84C0-A96475A0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409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4B4"/>
          </a:solidFill>
          <a:ln xmlns:a="http://schemas.openxmlformats.org/drawingml/2006/main" w="11430">
            <a:solidFill>
              <a:srgbClr val="FFB4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4F6F1-A05C-4E80-A476-1693AEE8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1920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4B4"/>
          </a:solidFill>
          <a:ln xmlns:a="http://schemas.openxmlformats.org/drawingml/2006/main" w="11430">
            <a:solidFill>
              <a:srgbClr val="FFB4B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72A97-8F4B-41B7-9FD8-456938D2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6C86A-81DA-4ED1-849A-159D54D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0B1EE-4FC6-42D2-91EA-F9BD900A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A52DA-2D20-4049-BE9E-987B1052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快，但路线靠感觉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7E107-BAF7-4C85-B890-6D4263D1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85900"/>
            <a:ext cx="1409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D88A"/>
          </a:solidFill>
          <a:ln xmlns:a="http://schemas.openxmlformats.org/drawingml/2006/main" w="11430">
            <a:solidFill>
              <a:srgbClr val="FFD8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8AAD3-3BF0-44B3-8F3A-34DD5221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21920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D88A"/>
          </a:solidFill>
          <a:ln xmlns:a="http://schemas.openxmlformats.org/drawingml/2006/main" w="11430">
            <a:solidFill>
              <a:srgbClr val="FFD8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11273-58D6-4567-9D0D-00A9DDFB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8E72D-AA6C-498F-9328-904245F1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9CD4A-D84D-4629-BDBB-42A670F7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Agent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594FF-245B-48BE-812C-ACA8DA71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能跑，但缺少验收边界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52533-562D-4EA4-B149-C96970B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85900"/>
            <a:ext cx="1409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DB7FF"/>
          </a:solidFill>
          <a:ln xmlns:a="http://schemas.openxmlformats.org/drawingml/2006/main" w="11430">
            <a:solidFill>
              <a:srgbClr val="7DB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DB12C-7B34-4B96-B8A0-FDE2A624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1920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DB7FF"/>
          </a:solidFill>
          <a:ln xmlns:a="http://schemas.openxmlformats.org/drawingml/2006/main" w="11430">
            <a:solidFill>
              <a:srgbClr val="7DB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9D677-B4C0-4F71-B195-4A4F94F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15DA1-E00D-4CCF-8EB4-2927A0C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29674-8C44-48EE-8DD4-546C46E5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76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SDD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79456-56B7-43AD-B76E-31B2A46E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先 spec，再设计/任务/测试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97EE2-D3DB-47EE-A6C6-6072E15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85900"/>
            <a:ext cx="1409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5B2D0-CB89-4304-AD70-317D170F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E837F-4B00-4036-ACE8-EA25F0D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2F7B2-B9F2-4040-823D-889F88AF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1430">
            <a:solidFill>
              <a:srgbClr val="1F293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82CFE-1169-49C0-BD56-183A531C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SDD +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9805B3-BFFB-4A7F-9977-FD24A3F8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代码证据 + 守卫 + 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CF4D5-C183-450C-AC70-89B1A310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小汽车梗图：同样都是“让 AI 开车”，区别在于有没有地图、刹车、仪表盘和出厂检测。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ADF65F-F041-43A6-A232-758104D2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模式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1A59F4-DFBA-4B35-A440-78DEC37C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需求边界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CE991A-8BB7-4170-8981-B89ACD35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设计与任务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435DD0-BF80-4727-970C-986685B9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代码理解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DA73DD-F367-4A60-AA65-7A7308CC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454A8F-6EE4-4B9E-86FE-9B08676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861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生产可用性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37856D-6868-4CEE-A44D-3736FC6D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Vibe Coding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F9CA6E-1615-414F-860B-428B4ADA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861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口头/即时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AFF4D0-7FFF-439B-B2E2-ABAB1C9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861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弱，依赖上下文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E64CD8-2D4C-446B-95FF-49FCCCEA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861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常全量扫或猜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3DFBB3-B9A6-4A98-A95C-FA727FB1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861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补测较晚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1B13D3-32D9-4CA3-BE53-A8D7E030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861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原型快，风险高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BA9771-3222-44D6-9F0B-CA00E6D3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Agent 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A011ED-FA37-47CA-8822-BD593F8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386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Prompt 驱动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8C2AA6-D681-4ECF-957E-5CC4F5A4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部分自动规划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7251D4-A2C2-4011-B7AC-7B264614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386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受上下文窗口影响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D4AB97-C97C-41C1-A30C-AC7E6D1A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86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测试不稳定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83D57C-97B2-47A8-926B-5555A24C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386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可交付但一致性弱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B02449-314E-4006-A1A0-7F7EF729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SDD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D09133-65B6-46ED-B369-F24BF597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910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Spec/验收场景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C39F6C-F36F-4B15-9032-D69C0B7B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910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Design Doc + tasks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F634E9-E795-4975-A138-381CAD6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按需求影响面读取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F3336C-D1F7-4508-8B84-30B752A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910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显性测试矩阵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105685-FAB6-4103-8019-8AA0F6E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7910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理论上可达生产标准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027898-BA0A-43BB-97ED-5AB47CF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SDD + Guard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9404DA-5B03-400D-A8DA-4398EC14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435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Spec hash 映射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EDFB46-D82E-45EF-847A-317FC655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435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阶段准入准出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61A217-8547-47DB-80F7-FC66B69A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435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CodeGraph 证据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4892E1-CB9E-4742-BCCF-D8624223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435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Guard 阻断漂移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D2AF79-78D7-4B4D-8A7E-F14AFA69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435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更接近可审计工程流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BFC933-DBC9-4FED-9391-83C8E1C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SDD / OpenSpec / Superpowers / CodeGraph / Comet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7391DE-C869-4562-A7F3-7F0EC28E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1157390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0A194-4BD9-4CEA-8C85-1D36DF50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BF0FC-3A96-4A58-A83E-6AFA246D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SDD 主流方式：Agent 负责执行，Skill 负责纪律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EC9CF-F9DB-4D54-8BDF-34580584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Agent 像“司机”，Skill/Harness 像“路线、交通规则、质检站”。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F4753-5565-4AFC-BD5C-2D9A5025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0DD81-203F-416B-A584-8E380667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Agent / IDE / Coding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07AC2-BDA9-4EAF-A61F-19E1AF39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85875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Skill / Spec / 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6FDF5-6134-423F-835F-B081670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Kiro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1F63F-9249-4A32-BF85-3B2721A4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860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EF43B-7FDA-447D-8FD5-B945DF9E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Qoder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4AB9F-C1E8-402C-B130-20AC17AB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622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B2274-B311-4E36-9AA6-D1136C2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Cursor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FBBC4-505A-4FDC-A683-5146B30E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Windsurf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03EB1-5C9B-4CA8-8D86-3F203E65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OpenCode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A7EE7-02CB-46B2-9090-145A7A66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Gemini 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6D213-8EF4-41EF-881C-CFE6E709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Copilot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98EE5-9214-4E0A-9D16-8BE8E353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910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Trae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2571F-77A8-4201-B9F2-298AF9F1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OpenSpec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82F74-F1F9-41D0-85BE-EDBF5949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Superpowers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B5791-8762-48EF-AFC3-465B0B5C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622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Comet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DB680-1D42-4C39-9DD5-0AAC2760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622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Spec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ADCB6-C5BE-4EB8-AD22-F722D20A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CodeGraph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96DE2-E3DD-4541-9676-E2DD724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自定义规范 Skill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81DE6-49A2-4C3B-94A0-8BB366C5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组件库 Skill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613057-0EA5-4A55-949C-B85F2C67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147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安全/测试 Skill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AE263-D234-4792-9862-A0A59344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9753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1430">
            <a:solidFill>
              <a:srgbClr val="B6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SDD 不是某一个工具，而是一条可组合链路：需求规格 → 深度设计 → 实施计划 → TDD/验证 → 归档追踪。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8119A-04F2-4B4C-ABBA-A0F82B68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24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A6E09-0D69-486A-8BE7-15BB2FF1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57850"/>
            <a:ext cx="973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Agent 强在代码执行、工具调用、上下文协作。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11DCC-EC87-4EC6-9E92-4377817B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53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8354BC-446E-47AA-B8DA-69477A0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86450"/>
            <a:ext cx="973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Skill 强在强制流程、产物格式、测试纪律和复盘证据。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9109B-606B-4CAA-B17C-8E3ED79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81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3D8500-B334-4540-B7CD-5A3EB184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15050"/>
            <a:ext cx="973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Harness 把多种 Skill 串成状态机，减少中途断点和人为遗漏。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5A6BA-7BDC-4866-BB91-E3863BAF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SDD / OpenSpec / Superpowers / CodeGraph / Comet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D6B335-9440-4AD4-941E-34A9F00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447471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0008E-2852-457E-BAE9-5C429DC9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E1FE3-00AE-4492-9199-E7955400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OpenSpec 与 Superpowers：两条流程如何分工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FDDFD-18B7-4732-946F-9AC428D3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OpenSpec 管 WHAT，Superpowers 管 HOW；一个定义要做什么，一个约束怎么做。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A25D5-27C1-4A67-90CD-19E609F3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46450-C36F-4247-A425-42D9B3C7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FB3"/>
                </a:solidFill>
              </a:defRPr>
            </a:pPr>
            <a:r>
              <a:rPr sz="1800" b="1">
                <a:solidFill>
                  <a:srgbClr val="0B4FB3"/>
                </a:solidFill>
              </a:rPr>
              <a:t>OpenSpec：需求/spec 生命周期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7528C-DAA5-4346-B5BF-B228A7C8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explore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896E7-57FE-47C9-A83F-74BF155A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859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BD58E-E56A-468B-B152-EB9AF345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6212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propose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5AC95-FD1F-4C54-85EB-D9AE2C30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8859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FA58F-E9F3-4692-9CF7-AA4E570E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delta 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0EB2C-E208-456B-ACBC-FC090021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859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38A34-A3A0-45F2-B7F1-46314ED4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6212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BBC76-8E36-4F91-89E1-8105ADC7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859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B3E76-05A2-46C4-873C-433BBAC3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6212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56E1F-5B0F-4C22-A487-4851940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859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9A6EC-3A65-4ECA-912F-F723B7D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6212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archive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4539A-2720-4C73-B7A9-2D9EC79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5DAE1-EF04-4F2B-A168-4432B02B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产物：proposal.md / design.md / tasks.md / specs/*/spec.md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F18CC-2741-4B34-941B-E273FF56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3A488-E987-439A-B75F-653FC611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适合回答：能力边界是什么？验收场景是什么？何时归档到主 spec？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5434E-F465-4128-9CBF-0FCA1343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FB3"/>
                </a:solidFill>
              </a:defRPr>
            </a:pPr>
            <a:r>
              <a:rPr sz="1800" b="1">
                <a:solidFill>
                  <a:srgbClr val="0B4FB3"/>
                </a:solidFill>
              </a:rPr>
              <a:t>Superpowers：工程执行纪律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4368B-4ED7-4984-9B71-A41FD537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B3"/>
                </a:solidFill>
              </a:defRPr>
            </a:pPr>
            <a:r>
              <a:rPr sz="1275" b="1">
                <a:solidFill>
                  <a:srgbClr val="0B4FB3"/>
                </a:solidFill>
              </a:rPr>
              <a:t>brainstorming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5CA41-C787-4332-9017-690019B0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576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570435-64D3-4FD8-AFF1-4738524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338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B3"/>
                </a:solidFill>
              </a:defRPr>
            </a:pPr>
            <a:r>
              <a:rPr sz="1275" b="1">
                <a:solidFill>
                  <a:srgbClr val="0B4FB3"/>
                </a:solidFill>
              </a:rPr>
              <a:t>design doc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A79D7-C1ED-47AD-8921-FA076D7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576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9F3FE-D5ED-4E9F-A5A9-455ADE07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338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B3"/>
                </a:solidFill>
              </a:defRPr>
            </a:pPr>
            <a:r>
              <a:rPr sz="1275" b="1">
                <a:solidFill>
                  <a:srgbClr val="0B4FB3"/>
                </a:solidFill>
              </a:rPr>
              <a:t>writing plans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3D172A-667A-460B-A1AF-2B7A2889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576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055C8B-657B-4538-A4B9-6849B572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338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B3"/>
                </a:solidFill>
              </a:defRPr>
            </a:pPr>
            <a:r>
              <a:rPr sz="1275" b="1">
                <a:solidFill>
                  <a:srgbClr val="0B4FB3"/>
                </a:solidFill>
              </a:rPr>
              <a:t>TDD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EF9B8-F78F-4F8E-A984-6DACA1BD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2576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6F92B-3635-467B-82A0-0BAE54EC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338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B3"/>
                </a:solidFill>
              </a:defRPr>
            </a:pPr>
            <a:r>
              <a:rPr sz="1275" b="1">
                <a:solidFill>
                  <a:srgbClr val="0B4FB3"/>
                </a:solidFill>
              </a:rPr>
              <a:t>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5FEFB7-326F-427A-8FDD-E5C2381E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576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9E0"/>
                </a:solidFill>
              </a:defRPr>
            </a:pPr>
            <a:r>
              <a:rPr sz="2100" b="1">
                <a:solidFill>
                  <a:srgbClr val="1769E0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B3AE9-0E89-4FE5-A501-96ECD9C1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338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B3"/>
                </a:solidFill>
              </a:defRPr>
            </a:pPr>
            <a:r>
              <a:rPr sz="1275" b="1">
                <a:solidFill>
                  <a:srgbClr val="0B4FB3"/>
                </a:solidFill>
              </a:rPr>
              <a:t>review/finish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AFD5C5-E9F1-4357-9040-DA92565B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F25B0F-6CFB-4EE2-9436-3B559147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产物：docs/superpowers/specs/、plans/、测试/审查/收尾证据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39F885-2BF6-4A19-A200-415D4D6E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D05DA5-FB20-48BC-AE40-2EC6E422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适合回答：架构怎么落地？任务如何拆？怎么证明代码真的可用？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0247E-88D9-4CFE-B247-9E8D4D2C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SDD / OpenSpec / Superpowers / CodeGraph / Comet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8FEE8D-7024-41AE-82F5-8B45CD8E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1509605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0EB5A0-6171-4FDD-84EE-00BE9103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18E5-734F-4D7B-B5ED-B4692007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XForm 案例：用 OpenSpec 把“想改”变成“可验收”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73AE7-441D-4808-B0AD-D15F985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案例引入页，可替换为真实项目细节：核心是把复杂表单改造变成结构化 change。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55E15-AB92-44AC-A7F6-9FC5A8DD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C3335-CAF6-4BC7-85C8-57953735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问题场景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D3632-09FF-488E-8D30-E4609583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C6C"/>
          </a:solidFill>
          <a:ln xmlns:a="http://schemas.openxmlformats.org/drawingml/2006/main" w="11430">
            <a:solidFill>
              <a:srgbClr val="EF6C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2BD95-7BF2-43CE-A755-F1A5AD08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复杂表单/动态字段/校验规则散落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BF03C-CDDD-4146-AD19-4EAF3E3C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C6C"/>
          </a:solidFill>
          <a:ln xmlns:a="http://schemas.openxmlformats.org/drawingml/2006/main" w="11430">
            <a:solidFill>
              <a:srgbClr val="EF6C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4E539-9B2E-4BE5-95D9-F75E4347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需求讨论容易变成 UI 细节拉扯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91249-2B5B-4A40-9401-45D6ABF7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C6C"/>
          </a:solidFill>
          <a:ln xmlns:a="http://schemas.openxmlformats.org/drawingml/2006/main" w="11430">
            <a:solidFill>
              <a:srgbClr val="EF6C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E6C46-93A7-4DFA-9CF9-0FA95433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AI 容易只改局部，遗漏路由、引用和测试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B0510-0121-4C83-863B-3AEF6806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381125"/>
            <a:ext cx="314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OpenSpec 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E11B7-0F21-4B33-951B-AA8E295A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41EEF-7A15-44EC-BC20-C6F9F49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95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先 explore 现有能力与约束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71632-AC8E-4444-84B0-50648C5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17BD7-6A8F-4DF7-92ED-420040CA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955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生成 proposal/design/tasks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759CC-337D-41CF-94E8-FEA7EF68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62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B9D75-91EA-4848-94D5-B78DC537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956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delta spec 写验收场景和边界条件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85A27-B44D-43BD-B289-B322F5FD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4F176-CA36-4ECD-80EA-BB067B36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956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任务拆到可执行、可验证粒度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810FF-7F04-4E9D-B2F5-C383B27C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81125"/>
            <a:ext cx="4057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产物与收益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1F7CF-08AD-41C3-BEF8-C2F73E20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产物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ED8F5-8879-482D-88EB-CBEF14A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对开发的帮助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7E9E1-B1BB-47C9-8055-5FB6F5BC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574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proposal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29DDC-11C7-4A1F-A684-CF35E8A4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统一目标、范围、非目标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2DA2C-946E-4811-8C5B-DD1C9986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337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07E9A-81B3-4DD3-A1D1-1FA8F54F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记录方案约束，减少反复解释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51DCE-733E-4417-81AE-EFFF13AF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099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tasks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7282C-353D-4002-85E8-1C23A438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任务可勾选，避免“做了一半”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B4D001-8E8B-4666-9C89-F8FCA508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delta spec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0EE2F6-291B-4D89-AEDD-09E13CE2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验收标准可归档、可追踪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7D123F-6816-48B4-AD9C-3CF27E9A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1430">
            <a:solidFill>
              <a:srgbClr val="B6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一句话：OpenSpec 把 XForm 的“业务口径”固定下来，后面的 agent 才不会每轮重新发明需求。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7850F-D225-48FF-821C-6259D09B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SDD / OpenSpec / Superpowers / CodeGraph / Comet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391B70-9D97-4436-BB1A-4B28176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1088579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D4610-75F0-4191-B7AA-702A6F2F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C2A1C-526F-49B2-872C-EE42290D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Comet：把 OpenSpec 与 Superpowers 串成一条闭环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195D7-087B-4260-A896-227DB73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开源 skill：github.com/rpamis/comet。组合的理由是各取所长，而不是重复造流程。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AA349-36CF-4F99-87AD-F5868B5C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0DFD3-354B-4DB5-BDF2-DD3047D2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OpenSpec</a:t>
            </a:r>
          </a:p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WHAT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DDEA0-6C2E-41C5-A8D5-9984358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954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E0"/>
                </a:solidFill>
              </a:defRPr>
            </a:pPr>
            <a:r>
              <a:rPr sz="3150" b="1">
                <a:solidFill>
                  <a:srgbClr val="1769E0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9CBF4-1FF8-4D5B-A033-53C08083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049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Superpowers</a:t>
            </a:r>
          </a:p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HOW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0D99E-DF96-4226-8D69-4399F96D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9E0"/>
                </a:solidFill>
              </a:defRPr>
            </a:pPr>
            <a:r>
              <a:rPr sz="3150" b="1">
                <a:solidFill>
                  <a:srgbClr val="1769E0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30679-1606-4326-BBC2-A4F1CE53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0495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Comet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STATE + GUARD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BFB1F-377F-4800-B7F5-CE455E1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F5F59-C2EA-4A9F-9A46-C668D635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992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OpenSpec 长于需求/spec 生命周期；Superpowers 长于设计、TDD、计划、审查。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ADBBF-AF95-42E5-806E-DA2ECCE2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B18FA-8F6E-4A5A-A365-8EB1CD11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92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Comet 增加状态文件、阶段 guard、handoff hash、archive 自动化和断点恢复。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279E1-5770-4E69-BAA3-12D9A229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CB229-AA04-45A7-8581-D62AD1EE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992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核心收益：让 agent 不再靠对话记忆推进长任务。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A0F1D-7324-4D88-856D-8B205639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/comet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DC8F1-AFEB-4437-9643-2A0836B2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/comet-open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2870A-0357-4519-8230-64302C95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/comet-design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A5D12-9598-4E49-9A58-F6241F7C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/comet-build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A937E-662B-4889-9483-ED60A00D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/comet-verify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68494-67DB-48C3-BBFF-2B8715BC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291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/comet-archive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24EE5-D320-4D3B-8031-62D574B3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/comet-scan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83BFA-7A04-4F3F-A6C8-86DB2EE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863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/comet-hotfix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840CE-4304-400D-A6BB-A18649E8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863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B3"/>
                </a:solidFill>
              </a:defRPr>
            </a:pPr>
            <a:r>
              <a:rPr sz="1125" b="1">
                <a:solidFill>
                  <a:srgbClr val="0B4FB3"/>
                </a:solidFill>
              </a:rPr>
              <a:t>/comet-tweak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7FAC9-D8F4-47D4-B5E0-261E7B04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Source: https://github.com/rpamis/comet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72358-53B9-4F82-8822-08D5C993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365335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62075A-36B4-4A16-A915-2105BD5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24D58-7ED6-4076-8CAF-5CB1A70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CodeGraph：渐进式披露的代码证据层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F14DF-7F69-4CF0-B63A-1C8FD147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不是禁止读代码，而是先用索引、关系和影响面把阅读范围缩小。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D6025-F539-4E34-AB08-C5DA1D6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D7908-62D4-49A0-8173-B0B1E1DA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结构索引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A25CF-F4FA-44B5-A28A-CEC93CA1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.codegraph/codegraph.db</a:t>
            </a:r>
          </a:p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稳定保存扫描结果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9CEB-08B4-4B41-ADD0-20F95158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关系查询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1EC85-0F45-411A-A8FF-E306DE49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callers / callees / impact</a:t>
            </a:r>
          </a:p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直接看引用链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AF5D1-3154-45D3-BD2A-6453BE16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定向摘录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1DEA3-E69F-46C8-BD1F-DB27ECF8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Targeted Source Excerpts</a:t>
            </a:r>
          </a:p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按证据读少量源码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69D86-673F-4E4E-8BA2-86F11F9D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476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B3"/>
                </a:solidFill>
              </a:defRPr>
            </a:pPr>
            <a:r>
              <a:rPr sz="1650" b="1">
                <a:solidFill>
                  <a:srgbClr val="0B4FB3"/>
                </a:solidFill>
              </a:rPr>
              <a:t>架构可视化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2AB0F-B6D2-40D1-BB52-7C89DAD8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766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architecture.mmd</a:t>
            </a:r>
          </a:p>
          <a:p xmlns:a="http://schemas.openxmlformats.org/drawingml/2006/main">
            <a:pPr algn="ctr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人能接手的 Mermaid 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C86F9-9E56-4609-8F27-8B2D2510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1430">
            <a:solidFill>
              <a:srgbClr val="B6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对开发流程的帮助：更少 token、更少全仓扫描、更少模型漂移；同时让影响面、受影响测试和页面/路由引用关系更容易被复核。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AE6D8-E6E9-4A17-9F31-F80ADF6B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SDD / OpenSpec / Superpowers / CodeGraph / Comet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50DB8-4BEC-484A-AF7D-0750979F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1167294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078F8A-1852-4850-94B1-65D8305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D0AFB-3FD6-4C26-B52D-F067539A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Specoding：基于 Comet 魔改的组合方案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F51D4-8114-4D75-80E1-ADA73467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仓库：github.com/GrandyLu/Specoding。重点是 CodeGraph + OpenSpec + Superpowers 的工程化衔接。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174AB-79FB-41ED-A049-C117C31E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87149-4300-48D8-9BF9-792178E1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FB3"/>
                </a:solidFill>
              </a:defRPr>
            </a:pPr>
            <a:r>
              <a:rPr sz="1575" b="1">
                <a:solidFill>
                  <a:srgbClr val="0B4FB3"/>
                </a:solidFill>
              </a:rPr>
              <a:t>CodeGraph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F9B75-FB4E-4588-9BD7-792BE2C5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742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先扫一次，生成 DB / Mermaid /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1E65A-91A2-4296-BD16-C33F63F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FB3"/>
                </a:solidFill>
              </a:defRPr>
            </a:pPr>
            <a:r>
              <a:rPr sz="1575" b="1">
                <a:solidFill>
                  <a:srgbClr val="0B4FB3"/>
                </a:solidFill>
              </a:rPr>
              <a:t>OpenSpec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FF29B-6886-481F-A00E-B22CAE55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742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proposal、design、tasks、delta 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1182A-B63D-45DD-8C51-909C00E7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FB3"/>
                </a:solidFill>
              </a:defRPr>
            </a:pPr>
            <a:r>
              <a:rPr sz="1575" b="1">
                <a:solidFill>
                  <a:srgbClr val="0B4FB3"/>
                </a:solidFill>
              </a:rPr>
              <a:t>Superpowers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49EA9-C213-4CE5-91C4-1EC2E16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742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Design Doc、Plan、TDD、Review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E35AB-6741-4BB9-9493-72C3A6E6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Comet scripts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0C8BC-4C20-486A-811B-22F45D39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742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.comet.yaml、guard、handoff、archive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C4146-F269-4038-8AD5-4FFAC1C7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81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C3B73-58AC-4166-A147-ACC21E61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973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中文 Skill 作为默认路径，英文版本保持同步。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1A351-49EA-4379-8F79-4DA69EEC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A5BF2-1F1B-4BB8-A13B-76767002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81650"/>
            <a:ext cx="973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context_skills 可配置项目规范/组件库/安全/测试约束。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7C5C3-5602-4428-934B-66208C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15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D3F62-AD19-4E94-8C3A-3AB0DE0D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48350"/>
            <a:ext cx="973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test-cases.md 显性化验证矩阵，不把验证局限成单元测试。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47C13-F37A-41C2-9474-05D9B50C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81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846D0-387D-4951-937B-71B41A9F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115050"/>
            <a:ext cx="973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handoff_hash 把 OpenSpec 产物与 Superpowers Design Doc 绑定。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9EF79-525D-4B7E-8356-65BC3229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Source: https://github.com/GrandyLu/Specoding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F8FE8-D4B3-4FB6-9832-337DF8D3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878736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AA8AD6-E46A-47E5-B0C9-DC6B14AB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330C3-1E4E-4837-8945-481B2F7E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优势：用渐进式披露降低成本与漂移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67C4A-1A6A-493F-B5FE-9FABA7D2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核心思想：先查证据，再读代码；先验收，再实现；先检查漂移，再推进阶段。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03F39-56BC-414C-8E2C-7915A471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E9ED6-BE5D-4D03-8ECE-251E7F53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提升点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613EB-4CD5-43AD-87BB-F329E290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81125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传统/纯 Agent 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47B58-A570-42A6-B978-256DE42F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81125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Specoding 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27F66-AC72-4671-8A87-3FE60EA7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81125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直接收益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8FB5C-6431-4E6C-B3C0-07D5D5F2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扫描方式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CD155-FB08-4826-9D5E-08F33233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192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每轮重新扫、上下文不稳定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A8E64-A3F2-4B6B-8DBF-B1F52773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192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CodeGraph 扫一次后读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17ED0-F8D4-457A-A13C-AD86D7DF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1927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稳定、便宜、可复现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EC581-12CA-4D05-A328-3D1AD03E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代码理解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EA2EE-1D8E-4E6B-8D2A-F4DE441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模型猜引用关系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9468F-0D41-4D45-A00A-0D877CA6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241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查 callers/callees/impact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8EBCE-0708-4316-B657-9C43D4C1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241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定位更准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7986D-5AD9-4AAF-8B5C-8C63D528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前端场景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DEFD4-30D4-45E5-8367-C518F5B5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289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路由/页面/组件链易漏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25942-30DB-4D4E-B1D7-BD78DEC9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289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查询路由与引用关系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5EF17-5690-497F-8B50-6DFFF7CE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2897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更适合复杂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28F14-C8CA-456B-BC2B-B7574203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需求漂移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73982-A8F7-4CA8-B5EE-BD892CF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338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Design 与 spec 静默不一致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2797B-BE4F-44D1-A066-2F0E87C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338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handoff hash + guard 阻断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C1F8C-02A6-47CB-B2F2-5D95B004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338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可追踪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0C847-9D66-4DE1-BD24-A64049DE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DF25E-B2F9-4D97-999E-6F86E0D5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386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写完才想测什么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F7DA1-1B86-4756-9232-B66D5821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386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test-cases.md 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EC2BD-D14A-4B62-84BC-5690D6F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3867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DD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TDD 显性化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AA0E12-F29F-4C51-BAF4-8E211B79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9944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1430">
            <a:solidFill>
              <a:srgbClr val="B6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一句话：把 AI 的“自由发挥”压进可审计的窄通道里，让它仍然快，但每一步都留下可复核证据。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DB2D6C-D377-4C98-85FC-0E0B447F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SDD / OpenSpec / Superpowers / CodeGraph / Comet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42E730-103B-4226-85C4-D38B6586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758905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2C2A9C-E0F0-4F84-BF5A-73FE7E1E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4469D-5952-4343-AEB4-EC15FA2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开发过程中的思考与研讨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2942D-22E9-4352-9779-02411F3B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这页用于现场讨论：哪些已经值得固化，哪些还适合继续试验。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04398-8C79-46D3-854D-B51801BD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1D16-DA0A-4B93-B01D-58FE6DC2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CodeGraph 完整性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3D3EA-C0EA-47CA-9468-EBBF72B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77E6E-9546-49BF-B74E-3E133F38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先读取 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58464-89D7-49E6-AEAC-36D58CFB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448AB-7B1D-4B47-B5D2-DFA6BDA6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再按叶子节点扫描源码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3D925-F208-4543-B887-906E2455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F2D75-EBDF-480F-9C27-FDC39069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用缺口清单驱动补扫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C0308-E256-4478-8C2B-0DB482FD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3716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可接手表达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68AE0-9E16-4309-B646-B5C53B46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6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8D7FE-8600-4387-BE19-4BED470F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002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页面路由/引用关系用 Mermaid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0BA16-B4F8-46BA-A9E4-1896DC71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5214A-64E0-4D1A-BAEB-F0CFEBF2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图给人看，DB 给 agent 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886B7-C588-474F-B03B-BC4AF8A9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87DE1-5380-4C3F-B308-CCB2C651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减少口头交接损耗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3BF13-67D4-4B65-B82C-197F72C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716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TDD 显性化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AFFC9-A8DC-4D3E-94FD-9E39020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6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14685-37E2-4FFF-87F7-34B01B9F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必须生成测试用例矩阵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40FA3-C8A7-4548-8872-6C406296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103AB-71D4-42EB-91E6-5AF6FDC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不限于单元测试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2937C-65F3-422D-98F8-5C5E646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6FBDB-7AD4-49D7-84F3-27F316A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必须记录执行证据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60418-2C52-4A63-8AA8-F074EEA1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716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9FC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B3"/>
                </a:solidFill>
              </a:defRPr>
            </a:pPr>
            <a:r>
              <a:rPr sz="1350" b="1">
                <a:solidFill>
                  <a:srgbClr val="0B4FB3"/>
                </a:solidFill>
              </a:rPr>
              <a:t>可扩展配置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A85BA-39F5-4199-B74C-89D3B8B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6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074B8-DE00-435D-8DA4-7B3D8E47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组件库 Skill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903C56-47F9-4D8E-9921-3D1CB7E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ED56F-26F9-4CAD-88E1-A2B579C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规范 Skill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FB7A61-0DD5-4279-B6B8-A67F2049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CA6CE8-D8FF-4FEC-89BD-17561FB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安全/测试 Skill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B2A522-9D45-466D-A822-E95A786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11430">
            <a:solidFill>
              <a:srgbClr val="1769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Harness 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5F6131-7C0B-48F7-BEA4-C5041104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本身已经是 harness 工程：主流程执行由 agent/skill 驱动，Comet 负责状态、准入准出、产物检查和断点恢复。下一步管控点是 OpenSpec ↔ Superpowers 交接的 hash 映射：OpenSpec 产物若在 Design Doc 后变化，build guard 应阻断并要求重新生成 handoff。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84779B-99F4-4960-A02A-D1264F8A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2F66"/>
          </a:solidFill>
          <a:ln xmlns:a="http://schemas.openxmlformats.org/drawingml/2006/main" w="11430">
            <a:solidFill>
              <a:srgbClr val="0F2F6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未来形态研讨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4DF1E3-FFFD-43DF-A5AF-33804AA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封装进 freecode / opencode？继续保持纯 skill？还是做轻量 harness + 可选插件？判断标准：用户迁移成本、平台兼容性、流程强约束能力、团队审计需求。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867620-2678-4BB2-9798-D6C9915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905500"/>
            <a:ext cx="1066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1430">
            <a:solidFill>
              <a:srgbClr val="B6D5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4FB3"/>
                </a:solidFill>
              </a:defRPr>
            </a:pPr>
            <a:r>
              <a:rPr sz="1425" b="1">
                <a:solidFill>
                  <a:srgbClr val="0B4FB3"/>
                </a:solidFill>
              </a:rPr>
              <a:t>研讨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67A90E-0C77-434B-BF2A-44052E51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SDD / OpenSpec / Superpowers / CodeGraph / Comet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167AAF-B932-4228-9BEF-11943945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可编辑 PPT</a:t>
            </a:r>
          </a:p>
        </p:txBody>
      </p:sp>
    </p:spTree>
    <p:extLst>
      <p:ext uri="{BB962C8B-B14F-4D97-AF65-F5344CB8AC3E}">
        <p14:creationId xmlns:p14="http://schemas.microsoft.com/office/powerpoint/2010/main" val="272701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2026-06-22T13:22:57.4590000Z</dcterms:created>
  <dcterms:modified xsi:type="dcterms:W3CDTF">2026-06-22T13:22:57.4590000Z</dcterms:modified>
</coreProperties>
</file>